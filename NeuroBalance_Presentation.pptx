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ML Модели: Когнитивный скор и Состояние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XGBoost Regressor + XGBoost Classifier  ·  Датасет: 80 000 записей  ·  Split 70/10/20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5440680"/>
          </a:xfrm>
          <a:prstGeom prst="rect">
            <a:avLst/>
          </a:prstGeom>
          <a:solidFill>
            <a:srgbClr val="162B3F"/>
          </a:solidFill>
          <a:ln w="19050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① XGBoost Regressor — Когнитивный Скор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Задача: предсказать непрерывное значение
когнитивного скора от 0 до 100 на основе
17 признаков образа жизни.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40280"/>
            <a:ext cx="1737360" cy="1005840"/>
          </a:xfrm>
          <a:prstGeom prst="rect">
            <a:avLst/>
          </a:prstGeom>
          <a:solidFill>
            <a:srgbClr val="162B3F"/>
          </a:solidFill>
          <a:ln w="19050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3164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0.9997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1576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из 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26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Test R²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2240280"/>
            <a:ext cx="1737360" cy="1005840"/>
          </a:xfrm>
          <a:prstGeom prst="rect">
            <a:avLst/>
          </a:prstGeom>
          <a:solidFill>
            <a:srgbClr val="162B3F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23164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696"/>
                </a:solidFill>
              </a:rPr>
              <a:t>0.370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71576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баллов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926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Test RMSE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9080" y="2240280"/>
            <a:ext cx="1737360" cy="1005840"/>
          </a:xfrm>
          <a:prstGeom prst="rect">
            <a:avLst/>
          </a:prstGeom>
          <a:solidFill>
            <a:srgbClr val="162B3F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9080" y="23164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C4DFF"/>
                </a:solidFill>
              </a:rPr>
              <a:t>0.360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271576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баллов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2926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 RMSE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3101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C5"/>
                </a:solidFill>
              </a:rPr>
              <a:t>R² = 0.9997 означает, что модель объясняет
99.97% дисперсии когнитивного скора.
RMSE = 0.370 — ошибка менее 0.4 балла из 100.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50208"/>
            <a:ext cx="5212080" cy="658368"/>
          </a:xfrm>
          <a:prstGeom prst="rect">
            <a:avLst/>
          </a:prstGeom>
          <a:solidFill>
            <a:srgbClr val="1A2E40"/>
          </a:solidFill>
          <a:ln w="1270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9684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96"/>
                </a:solidFill>
              </a:rPr>
              <a:t>Сравнение: XGBoost vs Random Forest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224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 R²: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4249928"/>
            <a:ext cx="3199439" cy="164592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70479" y="422452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XGB: 0.9997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0240" y="4425696"/>
            <a:ext cx="3194959" cy="1645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5999" y="442569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RF:  0.9983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66344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17 признаков: 10 исходных + 7 engineered
(CFI, Sleep_Debt, Memory_Efficiency,
Lifestyle_Balance, Sleep×Exercise, …)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3035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E696"/>
                </a:solidFill>
              </a:rPr>
              <a:t>Поч. XGBoost: L1+L2 регуляризация,
early stopping, 0.37 RMSE vs 0.93 у RF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1143000"/>
            <a:ext cx="5806440" cy="5440680"/>
          </a:xfrm>
          <a:prstGeom prst="rect">
            <a:avLst/>
          </a:prstGeom>
          <a:solidFill>
            <a:srgbClr val="162B3F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12070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4DFF"/>
                </a:solidFill>
              </a:rPr>
              <a:t>② XGBoost Classifier — Когнитивное Состояние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57276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Задача: 3-классовая классификация состояния.
HIGH (&gt;75 баллов) · MEDIUM (50–75) · LOW (&lt;50)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121408"/>
            <a:ext cx="1737360" cy="1005840"/>
          </a:xfrm>
          <a:prstGeom prst="rect">
            <a:avLst/>
          </a:prstGeom>
          <a:solidFill>
            <a:srgbClr val="162B3F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21976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C4DFF"/>
                </a:solidFill>
              </a:rPr>
              <a:t>97.94%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59689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на val 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8072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 Accuracy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2121408"/>
            <a:ext cx="1737360" cy="1005840"/>
          </a:xfrm>
          <a:prstGeom prst="rect">
            <a:avLst/>
          </a:prstGeom>
          <a:solidFill>
            <a:srgbClr val="162B3F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21976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696"/>
                </a:solidFill>
              </a:rPr>
              <a:t>99.99%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259689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на test set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28072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Test Accuracy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66960" y="2121408"/>
            <a:ext cx="1737360" cy="1005840"/>
          </a:xfrm>
          <a:prstGeom prst="rect">
            <a:avLst/>
          </a:prstGeom>
          <a:solidFill>
            <a:srgbClr val="162B3F"/>
          </a:solidFill>
          <a:ln w="19050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66960" y="21976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56 000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259689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записей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28072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Train size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3200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Classification Report (Val Set — 8 000 образцов):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493008"/>
            <a:ext cx="1097280" cy="292608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8720" y="354380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Класс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06640" y="3493008"/>
            <a:ext cx="868680" cy="292608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7440" y="354380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Precision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66760" y="3493008"/>
            <a:ext cx="777240" cy="292608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7560" y="354380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Recall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35440" y="3493008"/>
            <a:ext cx="731520" cy="292608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86240" y="354380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F1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58400" y="3493008"/>
            <a:ext cx="914400" cy="292608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09200" y="354380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Support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3785616"/>
            <a:ext cx="1097280" cy="292608"/>
          </a:xfrm>
          <a:prstGeom prst="rect">
            <a:avLst/>
          </a:prstGeom>
          <a:solidFill>
            <a:srgbClr val="162B40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68720" y="38364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696"/>
                </a:solidFill>
              </a:rPr>
              <a:t>HIGH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3785616"/>
            <a:ext cx="868680" cy="292608"/>
          </a:xfrm>
          <a:prstGeom prst="rect">
            <a:avLst/>
          </a:prstGeom>
          <a:solidFill>
            <a:srgbClr val="162B40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57440" y="383641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0.99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66760" y="3785616"/>
            <a:ext cx="777240" cy="292608"/>
          </a:xfrm>
          <a:prstGeom prst="rect">
            <a:avLst/>
          </a:prstGeom>
          <a:solidFill>
            <a:srgbClr val="162B40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7560" y="383641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0.98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35440" y="3785616"/>
            <a:ext cx="731520" cy="292608"/>
          </a:xfrm>
          <a:prstGeom prst="rect">
            <a:avLst/>
          </a:prstGeom>
          <a:solidFill>
            <a:srgbClr val="162B40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86240" y="383641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0.98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58400" y="3785616"/>
            <a:ext cx="914400" cy="292608"/>
          </a:xfrm>
          <a:prstGeom prst="rect">
            <a:avLst/>
          </a:prstGeom>
          <a:solidFill>
            <a:srgbClr val="162B40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09200" y="383641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2 637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17920" y="4078224"/>
            <a:ext cx="1097280" cy="292608"/>
          </a:xfrm>
          <a:prstGeom prst="rect">
            <a:avLst/>
          </a:prstGeom>
          <a:solidFill>
            <a:srgbClr val="1A3047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68720" y="412902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FF"/>
                </a:solidFill>
              </a:rPr>
              <a:t>LOW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06640" y="4078224"/>
            <a:ext cx="868680" cy="292608"/>
          </a:xfrm>
          <a:prstGeom prst="rect">
            <a:avLst/>
          </a:prstGeom>
          <a:solidFill>
            <a:srgbClr val="1A3047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57440" y="412902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0.98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66760" y="4078224"/>
            <a:ext cx="777240" cy="292608"/>
          </a:xfrm>
          <a:prstGeom prst="rect">
            <a:avLst/>
          </a:prstGeom>
          <a:solidFill>
            <a:srgbClr val="1A3047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17560" y="412902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0.98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35440" y="4078224"/>
            <a:ext cx="731520" cy="292608"/>
          </a:xfrm>
          <a:prstGeom prst="rect">
            <a:avLst/>
          </a:prstGeom>
          <a:solidFill>
            <a:srgbClr val="1A3047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86240" y="412902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0.98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58400" y="4078224"/>
            <a:ext cx="914400" cy="292608"/>
          </a:xfrm>
          <a:prstGeom prst="rect">
            <a:avLst/>
          </a:prstGeom>
          <a:solidFill>
            <a:srgbClr val="1A3047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109200" y="412902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1 903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17920" y="4370832"/>
            <a:ext cx="1097280" cy="292608"/>
          </a:xfrm>
          <a:prstGeom prst="rect">
            <a:avLst/>
          </a:prstGeom>
          <a:solidFill>
            <a:srgbClr val="162B40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68720" y="442163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6B"/>
                </a:solidFill>
              </a:rPr>
              <a:t>MEDIUM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06640" y="4370832"/>
            <a:ext cx="868680" cy="292608"/>
          </a:xfrm>
          <a:prstGeom prst="rect">
            <a:avLst/>
          </a:prstGeom>
          <a:solidFill>
            <a:srgbClr val="162B40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57440" y="442163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0.97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366760" y="4370832"/>
            <a:ext cx="777240" cy="292608"/>
          </a:xfrm>
          <a:prstGeom prst="rect">
            <a:avLst/>
          </a:prstGeom>
          <a:solidFill>
            <a:srgbClr val="162B40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17560" y="442163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0.98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235440" y="4370832"/>
            <a:ext cx="731520" cy="292608"/>
          </a:xfrm>
          <a:prstGeom prst="rect">
            <a:avLst/>
          </a:prstGeom>
          <a:solidFill>
            <a:srgbClr val="162B40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286240" y="442163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0.98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058400" y="4370832"/>
            <a:ext cx="914400" cy="292608"/>
          </a:xfrm>
          <a:prstGeom prst="rect">
            <a:avLst/>
          </a:prstGeom>
          <a:solidFill>
            <a:srgbClr val="162B40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109200" y="442163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3 460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17920" y="46177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Распределение классов в датасете: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217920" y="4892040"/>
            <a:ext cx="2174814" cy="25603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68934" y="4892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6B"/>
                </a:solidFill>
              </a:rPr>
              <a:t>MEDIUM: 43.2%  34,595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217920" y="5239512"/>
            <a:ext cx="1658001" cy="256032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952121" y="52395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696"/>
                </a:solidFill>
              </a:rPr>
              <a:t>HIGH: 33.0%  26,374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17920" y="5586984"/>
            <a:ext cx="1196383" cy="256032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490503" y="55869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F"/>
                </a:solidFill>
              </a:rPr>
              <a:t>LOW: 23.8%  19,031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17920" y="59893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0BEC5"/>
                </a:solidFill>
              </a:rPr>
              <a:t>Модель использует когнитивный скор для адаптивной
сложности игр: &gt;75 → HARD, 50-75 → MEDIUM, &lt;50 → EASY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ML Модели: Рекомендации и Метрики Здоровья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CatBoost Regressor (рекомендации)  ·  XGBoost ×3 (M-Rest / M-Ready / M-Balance)  ·  12 000 записей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5440680"/>
          </a:xfrm>
          <a:prstGeom prst="rect">
            <a:avLst/>
          </a:prstGeom>
          <a:solidFill>
            <a:srgbClr val="162B3F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4DFF"/>
                </a:solidFill>
              </a:rPr>
              <a:t>③ CatBoost Regressor — Персональные Рекомендации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Задача: для каждого из 4 типов рекомендаций предсказать
predicted_improvement — прирост когнитивного скора.
Выбирает ТОП-3 с макс. improvement без дубликатов.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12848"/>
            <a:ext cx="1737360" cy="1005840"/>
          </a:xfrm>
          <a:prstGeom prst="rect">
            <a:avLst/>
          </a:prstGeom>
          <a:solidFill>
            <a:srgbClr val="162B3F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28904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C4DFF"/>
                </a:solidFill>
              </a:rPr>
              <a:t>0.9656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8833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из 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986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Test R²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2212848"/>
            <a:ext cx="1737360" cy="1005840"/>
          </a:xfrm>
          <a:prstGeom prst="rect">
            <a:avLst/>
          </a:prstGeom>
          <a:solidFill>
            <a:srgbClr val="162B3F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228904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696"/>
                </a:solidFill>
              </a:rPr>
              <a:t>1.806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8833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баллов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8986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9080" y="2212848"/>
            <a:ext cx="1737360" cy="1005840"/>
          </a:xfrm>
          <a:prstGeom prst="rect">
            <a:avLst/>
          </a:prstGeom>
          <a:solidFill>
            <a:srgbClr val="162B3F"/>
          </a:solidFill>
          <a:ln w="19050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9080" y="228904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1.20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268833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баллов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28986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29184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5"/>
                </a:solidFill>
              </a:rPr>
              <a:t>RMSE = 1.806 → ошибка предсказания
улучшения &lt;2 баллов из 100. Обучено на ~50 000 сценариев
(4 типа × разные величины change × 12 500 профилей).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931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4 типа рекомендаций (выходы модели):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251960"/>
            <a:ext cx="5212080" cy="301752"/>
          </a:xfrm>
          <a:prstGeom prst="rect">
            <a:avLst/>
          </a:prstGeom>
          <a:solidFill>
            <a:srgbClr val="1A2E40"/>
          </a:solidFill>
          <a:ln w="12700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900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🌙 SLEEP_INCREASE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2900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— Оптимизировать сон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17720"/>
            <a:ext cx="5212080" cy="301752"/>
          </a:xfrm>
          <a:prstGeom prst="rect">
            <a:avLst/>
          </a:prstGeom>
          <a:solidFill>
            <a:srgbClr val="1A2E40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6558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4DFF"/>
                </a:solidFill>
              </a:rPr>
              <a:t>🧘 STRESS_DECREASE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65582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— Снизить стресс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983480"/>
            <a:ext cx="5212080" cy="301752"/>
          </a:xfrm>
          <a:prstGeom prst="rect">
            <a:avLst/>
          </a:prstGeom>
          <a:solidFill>
            <a:srgbClr val="1A2E40"/>
          </a:solidFill>
          <a:ln w="1270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0215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696"/>
                </a:solidFill>
              </a:rPr>
              <a:t>💪 EXERCISE_INCREASE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0215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— Увеличить активность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349240"/>
            <a:ext cx="5212080" cy="301752"/>
          </a:xfrm>
          <a:prstGeom prst="rect">
            <a:avLst/>
          </a:prstGeom>
          <a:solidFill>
            <a:srgbClr val="1A2E40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3873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📱 SCREEN_DECREASE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53873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— Сократить экранное время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8064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E696"/>
                </a:solidFill>
              </a:rPr>
              <a:t>Почему CatBoost: нативные категориальные признаки
(action_type), Ordered Target Statistics — нет target leakage.
Вердикт ноутбука: «Модель обучена ВЕЛИКОЛЕПНО!»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1143000"/>
            <a:ext cx="5806440" cy="5440680"/>
          </a:xfrm>
          <a:prstGeom prst="rect">
            <a:avLst/>
          </a:prstGeom>
          <a:solidFill>
            <a:srgbClr val="162B3F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12070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696"/>
                </a:solidFill>
              </a:rPr>
              <a:t>④⑤⑥ XGBoost ×3 — M-Rest / M-Ready / M-Balance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157276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Три отдельные модели, каждая специализирована
под свою метрику. Обучены на 12 000 синтетических
записей с физиологически валидированными формулами.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21579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Результаты обучения (test set):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2468880"/>
            <a:ext cx="1234440" cy="292608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6020" y="251968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Метрика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43800" y="2468880"/>
            <a:ext cx="868680" cy="292608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1900" y="251968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R²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2468880"/>
            <a:ext cx="777240" cy="292608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42020" y="251968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MAE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72600" y="2468880"/>
            <a:ext cx="777240" cy="292608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0700" y="251968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RMSE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41280" y="2468880"/>
            <a:ext cx="1417320" cy="292608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79380" y="251968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Ср. значение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2761488"/>
            <a:ext cx="1234440" cy="292608"/>
          </a:xfrm>
          <a:prstGeom prst="rect">
            <a:avLst/>
          </a:prstGeom>
          <a:solidFill>
            <a:srgbClr val="162B40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56020" y="2812288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C8FF"/>
                </a:solidFill>
              </a:rPr>
              <a:t>M-Rest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43800" y="2761488"/>
            <a:ext cx="868680" cy="292608"/>
          </a:xfrm>
          <a:prstGeom prst="rect">
            <a:avLst/>
          </a:prstGeom>
          <a:solidFill>
            <a:srgbClr val="162B40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81900" y="281228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0.9170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03920" y="2761488"/>
            <a:ext cx="777240" cy="292608"/>
          </a:xfrm>
          <a:prstGeom prst="rect">
            <a:avLst/>
          </a:prstGeom>
          <a:solidFill>
            <a:srgbClr val="162B40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42020" y="281228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2.01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72600" y="2761488"/>
            <a:ext cx="777240" cy="292608"/>
          </a:xfrm>
          <a:prstGeom prst="rect">
            <a:avLst/>
          </a:prstGeom>
          <a:solidFill>
            <a:srgbClr val="162B40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10700" y="281228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2.52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241280" y="2761488"/>
            <a:ext cx="1417320" cy="292608"/>
          </a:xfrm>
          <a:prstGeom prst="rect">
            <a:avLst/>
          </a:prstGeom>
          <a:solidFill>
            <a:srgbClr val="162B40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79380" y="281228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85.2 ± 8.7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3054096"/>
            <a:ext cx="1234440" cy="292608"/>
          </a:xfrm>
          <a:prstGeom prst="rect">
            <a:avLst/>
          </a:prstGeom>
          <a:solidFill>
            <a:srgbClr val="1A3047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56020" y="3104896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7C4DFF"/>
                </a:solidFill>
              </a:rPr>
              <a:t>M-Ready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43800" y="3054096"/>
            <a:ext cx="868680" cy="292608"/>
          </a:xfrm>
          <a:prstGeom prst="rect">
            <a:avLst/>
          </a:prstGeom>
          <a:solidFill>
            <a:srgbClr val="1A3047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81900" y="310489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0.9713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03920" y="3054096"/>
            <a:ext cx="777240" cy="292608"/>
          </a:xfrm>
          <a:prstGeom prst="rect">
            <a:avLst/>
          </a:prstGeom>
          <a:solidFill>
            <a:srgbClr val="1A3047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42020" y="310489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2.02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72600" y="3054096"/>
            <a:ext cx="777240" cy="292608"/>
          </a:xfrm>
          <a:prstGeom prst="rect">
            <a:avLst/>
          </a:prstGeom>
          <a:solidFill>
            <a:srgbClr val="1A3047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10700" y="310489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2.56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241280" y="3054096"/>
            <a:ext cx="1417320" cy="292608"/>
          </a:xfrm>
          <a:prstGeom prst="rect">
            <a:avLst/>
          </a:prstGeom>
          <a:solidFill>
            <a:srgbClr val="1A3047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279380" y="310489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65.6 ± 14.8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0" y="3346704"/>
            <a:ext cx="1234440" cy="292608"/>
          </a:xfrm>
          <a:prstGeom prst="rect">
            <a:avLst/>
          </a:prstGeom>
          <a:solidFill>
            <a:srgbClr val="162B40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6020" y="339750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E696"/>
                </a:solidFill>
              </a:rPr>
              <a:t>M-Balance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43800" y="3346704"/>
            <a:ext cx="868680" cy="292608"/>
          </a:xfrm>
          <a:prstGeom prst="rect">
            <a:avLst/>
          </a:prstGeom>
          <a:solidFill>
            <a:srgbClr val="162B40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81900" y="339750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0.9674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03920" y="3346704"/>
            <a:ext cx="777240" cy="292608"/>
          </a:xfrm>
          <a:prstGeom prst="rect">
            <a:avLst/>
          </a:prstGeom>
          <a:solidFill>
            <a:srgbClr val="162B40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42020" y="339750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2.13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372600" y="3346704"/>
            <a:ext cx="777240" cy="292608"/>
          </a:xfrm>
          <a:prstGeom prst="rect">
            <a:avLst/>
          </a:prstGeom>
          <a:solidFill>
            <a:srgbClr val="162B40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410700" y="339750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2.66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241280" y="3346704"/>
            <a:ext cx="1417320" cy="292608"/>
          </a:xfrm>
          <a:prstGeom prst="rect">
            <a:avLst/>
          </a:prstGeom>
          <a:solidFill>
            <a:srgbClr val="162B40"/>
          </a:solidFill>
          <a:ln w="6350">
            <a:solidFill>
              <a:srgbClr val="2A3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279380" y="339750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60.0 ± 14.7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17920" y="3703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Формулы (детерминированный fallback):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17920" y="4005072"/>
            <a:ext cx="5486400" cy="393192"/>
          </a:xfrm>
          <a:prstGeom prst="rect">
            <a:avLst/>
          </a:prstGeom>
          <a:solidFill>
            <a:srgbClr val="1A2E40"/>
          </a:solidFill>
          <a:ln w="19050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09360" y="40685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8FF"/>
                </a:solidFill>
              </a:rPr>
              <a:t>M-Rest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0" y="406857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min(hours/8,1)×50 + quality×30 + rested×20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17920" y="4462272"/>
            <a:ext cx="5486400" cy="393192"/>
          </a:xfrm>
          <a:prstGeom prst="rect">
            <a:avLst/>
          </a:prstGeom>
          <a:solidFill>
            <a:srgbClr val="1A2E40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09360" y="45257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C4DFF"/>
                </a:solidFill>
              </a:rPr>
              <a:t>M-Ready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0" y="452577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(energy/10)×40 + (mood/5)×30 + M-Rest×0.30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17920" y="4919472"/>
            <a:ext cx="5486400" cy="393192"/>
          </a:xfrm>
          <a:prstGeom prst="rect">
            <a:avLst/>
          </a:prstGeom>
          <a:solidFill>
            <a:srgbClr val="1A2E40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09360" y="49829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E696"/>
                </a:solidFill>
              </a:rPr>
              <a:t>M-Balance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0" y="498297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((10-stress)/9)×40 + habits×40 + mood×20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17920" y="544982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R² визуально (чем длиннее — тем точнее):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217920" y="5733288"/>
            <a:ext cx="3474720" cy="201168"/>
          </a:xfrm>
          <a:prstGeom prst="rect">
            <a:avLst/>
          </a:prstGeom>
          <a:solidFill>
            <a:srgbClr val="25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217920" y="5733288"/>
            <a:ext cx="3186318" cy="201168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784080" y="57332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M-Rest: 0.9170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17920" y="6035040"/>
            <a:ext cx="3474720" cy="201168"/>
          </a:xfrm>
          <a:prstGeom prst="rect">
            <a:avLst/>
          </a:prstGeom>
          <a:solidFill>
            <a:srgbClr val="25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217920" y="6035040"/>
            <a:ext cx="3374995" cy="201168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784080" y="60350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4DFF"/>
                </a:solidFill>
              </a:rPr>
              <a:t>M-Ready: 0.9713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217920" y="6336792"/>
            <a:ext cx="3474720" cy="201168"/>
          </a:xfrm>
          <a:prstGeom prst="rect">
            <a:avLst/>
          </a:prstGeom>
          <a:solidFill>
            <a:srgbClr val="25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217920" y="6336792"/>
            <a:ext cx="3361444" cy="201168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84080" y="63367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696"/>
                </a:solidFill>
              </a:rPr>
              <a:t>M-Balance: 0.9674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Системная Архитектура NeuroBalance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Microservices · Docker Compose 10 containers · Database-per-Service · Async Kafka Events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2103120" cy="1188720"/>
          </a:xfrm>
          <a:prstGeom prst="rect">
            <a:avLst/>
          </a:prstGeom>
          <a:solidFill>
            <a:srgbClr val="162B40"/>
          </a:solidFill>
          <a:ln w="25400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336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</a:rPr>
              <a:t>📱 iOS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1618488"/>
            <a:ext cx="195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SwiftUI · MVVM
URLSession async/await
Keychain JWT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1572768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C8FF"/>
                </a:solidFill>
              </a:rPr>
              <a:t>HTTPS
JWT Bearer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810512"/>
            <a:ext cx="594360" cy="2540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63240" y="1234440"/>
            <a:ext cx="2103120" cy="1691640"/>
          </a:xfrm>
          <a:prstGeom prst="rect">
            <a:avLst/>
          </a:prstGeom>
          <a:solidFill>
            <a:srgbClr val="162B3F"/>
          </a:solidFill>
          <a:ln w="25400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6740" y="1310640"/>
            <a:ext cx="197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NBAuthService
:8081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9440" y="1691640"/>
            <a:ext cx="1950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JWT · BCrypt
Registration
Onboarding
Profile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1234440"/>
            <a:ext cx="2103120" cy="1691640"/>
          </a:xfrm>
          <a:prstGeom prst="rect">
            <a:avLst/>
          </a:prstGeom>
          <a:solidFill>
            <a:srgbClr val="162B3F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2740" y="1310640"/>
            <a:ext cx="197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4DFF"/>
                </a:solidFill>
              </a:rPr>
              <a:t>NBCheckinService
:8082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5440" y="1691640"/>
            <a:ext cx="1950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Checkins · Mood
Sleep · Tasks
Games · XP
ML Results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1234440"/>
            <a:ext cx="2103120" cy="1691640"/>
          </a:xfrm>
          <a:prstGeom prst="rect">
            <a:avLst/>
          </a:prstGeom>
          <a:solidFill>
            <a:srgbClr val="162B3F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8740" y="1310640"/>
            <a:ext cx="197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NoteAI-backend
:8083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1440" y="1691640"/>
            <a:ext cx="1950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Journal · Notes
Groq Llama 3.3
70b AI Analysis
Auto-save PATCH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2907792"/>
            <a:ext cx="1371600" cy="32004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80" y="29077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Spring Boot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2907792"/>
            <a:ext cx="1371600" cy="32004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29077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Spring Boot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26680" y="2907792"/>
            <a:ext cx="1371600" cy="3200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80" y="29077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Spring Boot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944368"/>
            <a:ext cx="3810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3090672"/>
            <a:ext cx="3810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0" y="3236976"/>
            <a:ext cx="3810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0760" y="2944368"/>
            <a:ext cx="3810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3090672"/>
            <a:ext cx="3810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80760" y="3236976"/>
            <a:ext cx="3810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66760" y="2944368"/>
            <a:ext cx="3810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66760" y="3090672"/>
            <a:ext cx="3810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66760" y="3236976"/>
            <a:ext cx="3810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49240" y="3291840"/>
            <a:ext cx="4343400" cy="914400"/>
          </a:xfrm>
          <a:prstGeom prst="rect">
            <a:avLst/>
          </a:prstGeom>
          <a:solidFill>
            <a:srgbClr val="1A2E40"/>
          </a:solidFill>
          <a:ln w="2540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50840" y="3355340"/>
            <a:ext cx="414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96"/>
                </a:solidFill>
              </a:rPr>
              <a:t>⚡ Apache Kafka  :29092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0840" y="3675888"/>
            <a:ext cx="414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checkin.created  ·  sleep.logged  ·  game.completed  ·  character.leveled-up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0840" y="3904488"/>
            <a:ext cx="414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08090"/>
                </a:solidFill>
              </a:rPr>
              <a:t>Partition key = userId → гарантия порядка событий | Replication factor = 1 | 3 partitions/topic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49240" y="4434840"/>
            <a:ext cx="2011680" cy="1554480"/>
          </a:xfrm>
          <a:prstGeom prst="rect">
            <a:avLst/>
          </a:prstGeom>
          <a:solidFill>
            <a:srgbClr val="162B3F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12740" y="4498340"/>
            <a:ext cx="188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4DFF"/>
                </a:solidFill>
              </a:rPr>
              <a:t>🤖 ML Service
:5001 Flask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25440" y="4910328"/>
            <a:ext cx="185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XGBoost ×4
CatBoost ×1
2–20ms inference
In-memory cache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36792" y="4270248"/>
            <a:ext cx="3810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36792" y="4361688"/>
            <a:ext cx="3810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36792" y="4453128"/>
            <a:ext cx="3810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35240" y="4434840"/>
            <a:ext cx="2057400" cy="640080"/>
          </a:xfrm>
          <a:prstGeom prst="rect">
            <a:avLst/>
          </a:prstGeom>
          <a:solidFill>
            <a:srgbClr val="162B3F"/>
          </a:solidFill>
          <a:ln w="19050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98740" y="44983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Zookeeper :2181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8740" y="47731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Kafka coordination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4343400"/>
            <a:ext cx="2468880" cy="1463040"/>
          </a:xfrm>
          <a:prstGeom prst="rect">
            <a:avLst/>
          </a:prstGeom>
          <a:solidFill>
            <a:srgbClr val="0A1F30"/>
          </a:solidFill>
          <a:ln w="19050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2100" y="4406900"/>
            <a:ext cx="234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🗄 auth_db
:5432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100" y="4782312"/>
            <a:ext cx="234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E696"/>
                </a:solidFill>
              </a:rPr>
              <a:t>PostgreSQL 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4800" y="5001768"/>
            <a:ext cx="2316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users · onboarding
verification_tokens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26080" y="4343400"/>
            <a:ext cx="2468880" cy="1463040"/>
          </a:xfrm>
          <a:prstGeom prst="rect">
            <a:avLst/>
          </a:prstGeom>
          <a:solidFill>
            <a:srgbClr val="0A1F30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89580" y="4406900"/>
            <a:ext cx="234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4DFF"/>
                </a:solidFill>
              </a:rPr>
              <a:t>🗄 checkin_db
:5433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89580" y="4782312"/>
            <a:ext cx="234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E696"/>
                </a:solidFill>
              </a:rPr>
              <a:t>PostgreSQL 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02280" y="5001768"/>
            <a:ext cx="2316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daily_check_ins · mood_logs
sleep_logs · health_metrics
daily_ml_recommendation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4343400"/>
            <a:ext cx="2468880" cy="1463040"/>
          </a:xfrm>
          <a:prstGeom prst="rect">
            <a:avLst/>
          </a:prstGeom>
          <a:solidFill>
            <a:srgbClr val="0A1F30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55740" y="4406900"/>
            <a:ext cx="234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🗄 noteai_db
:5434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55740" y="4782312"/>
            <a:ext cx="234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E696"/>
                </a:solidFill>
              </a:rPr>
              <a:t>PostgreSQL 15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68440" y="5001768"/>
            <a:ext cx="2316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journal_entries
notes · note_users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63040" y="2926080"/>
            <a:ext cx="38100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463040" y="3072384"/>
            <a:ext cx="38100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463040" y="3218688"/>
            <a:ext cx="38100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114800" y="2944368"/>
            <a:ext cx="38100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14800" y="3294126"/>
            <a:ext cx="38100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114800" y="3643884"/>
            <a:ext cx="38100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114800" y="3993642"/>
            <a:ext cx="38100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114800" y="4343400"/>
            <a:ext cx="38100" cy="3810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2944368"/>
            <a:ext cx="3810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294126"/>
            <a:ext cx="3810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00800" y="3643884"/>
            <a:ext cx="3810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993642"/>
            <a:ext cx="3810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00800" y="4343400"/>
            <a:ext cx="38100" cy="381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686800" y="2944368"/>
            <a:ext cx="38100" cy="381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686800" y="3294126"/>
            <a:ext cx="38100" cy="381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686800" y="3643884"/>
            <a:ext cx="38100" cy="381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686800" y="3993642"/>
            <a:ext cx="38100" cy="381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686800" y="4343400"/>
            <a:ext cx="38100" cy="381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784080" y="1234440"/>
            <a:ext cx="2286000" cy="5440680"/>
          </a:xfrm>
          <a:prstGeom prst="rect">
            <a:avLst/>
          </a:prstGeom>
          <a:solidFill>
            <a:srgbClr val="162B3F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847580" y="12979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96"/>
                </a:solidFill>
              </a:rPr>
              <a:t>🐳 Docker Compose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47580" y="16184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10 контейнеров: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860280" y="1920240"/>
            <a:ext cx="2011680" cy="274320"/>
          </a:xfrm>
          <a:prstGeom prst="rect">
            <a:avLst/>
          </a:prstGeom>
          <a:solidFill>
            <a:srgbClr val="1A2E40"/>
          </a:solidFill>
          <a:ln w="12700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11080" y="1971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C8FF"/>
                </a:solidFill>
              </a:rPr>
              <a:t>● NBAuthService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860280" y="2258568"/>
            <a:ext cx="2011680" cy="274320"/>
          </a:xfrm>
          <a:prstGeom prst="rect">
            <a:avLst/>
          </a:prstGeom>
          <a:solidFill>
            <a:srgbClr val="1A2E40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911080" y="23093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C4DFF"/>
                </a:solidFill>
              </a:rPr>
              <a:t>● NBCheckinService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860280" y="2596896"/>
            <a:ext cx="2011680" cy="274320"/>
          </a:xfrm>
          <a:prstGeom prst="rect">
            <a:avLst/>
          </a:prstGeom>
          <a:solidFill>
            <a:srgbClr val="1A2E40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911080" y="26476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6B6B"/>
                </a:solidFill>
              </a:rPr>
              <a:t>● NoteAI-backend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860280" y="2935224"/>
            <a:ext cx="2011680" cy="274320"/>
          </a:xfrm>
          <a:prstGeom prst="rect">
            <a:avLst/>
          </a:prstGeom>
          <a:solidFill>
            <a:srgbClr val="1A2E40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11080" y="29860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C4DFF"/>
                </a:solidFill>
              </a:rPr>
              <a:t>● ML Flask Service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860280" y="3273552"/>
            <a:ext cx="2011680" cy="274320"/>
          </a:xfrm>
          <a:prstGeom prst="rect">
            <a:avLst/>
          </a:prstGeom>
          <a:solidFill>
            <a:srgbClr val="1A2E40"/>
          </a:solidFill>
          <a:ln w="1270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911080" y="33243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696"/>
                </a:solidFill>
              </a:rPr>
              <a:t>● PostgreSQL (×3)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860280" y="3611880"/>
            <a:ext cx="2011680" cy="274320"/>
          </a:xfrm>
          <a:prstGeom prst="rect">
            <a:avLst/>
          </a:prstGeom>
          <a:solidFill>
            <a:srgbClr val="1A2E40"/>
          </a:solidFill>
          <a:ln w="1270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911080" y="3662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696"/>
                </a:solidFill>
              </a:rPr>
              <a:t>● Apache Kafka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860280" y="3950208"/>
            <a:ext cx="2011680" cy="274320"/>
          </a:xfrm>
          <a:prstGeom prst="rect">
            <a:avLst/>
          </a:prstGeom>
          <a:solidFill>
            <a:srgbClr val="1A2E40"/>
          </a:solidFill>
          <a:ln w="12700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911080" y="40010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C8FF"/>
                </a:solidFill>
              </a:rPr>
              <a:t>● Zookeeper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860280" y="4288536"/>
            <a:ext cx="2011680" cy="274320"/>
          </a:xfrm>
          <a:prstGeom prst="rect">
            <a:avLst/>
          </a:prstGeom>
          <a:solidFill>
            <a:srgbClr val="1A2E40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911080" y="43393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● pgAdmin UI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847580" y="472744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0BEC5"/>
                </a:solidFill>
              </a:rPr>
              <a:t>DigitalOcean Droplet
Production deploy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847580" y="523951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C8FF"/>
                </a:solidFill>
              </a:rPr>
              <a:t>HikariCP pool
max=10 conn/service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847580" y="56692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696"/>
                </a:solidFill>
              </a:rPr>
              <a:t>Flyway migrations
V1__, V2__...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Backend Deep Dive: API · Безопасность · Async · Геймификация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Spring Boot 4 · Spring Security 6 · JWT HS256 · Kafka Events · XP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2834640" cy="2651760"/>
          </a:xfrm>
          <a:prstGeom prst="rect">
            <a:avLst/>
          </a:prstGeom>
          <a:solidFill>
            <a:srgbClr val="162B3F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800" y="1252220"/>
            <a:ext cx="268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🔐 Безопасность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800" y="1572768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600" y="161086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6B6B"/>
                </a:solidFill>
              </a:rPr>
              <a:t>▸ JWT HS256: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608" y="161086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RFC 7519, accessToken 24ч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4800" y="1883664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600" y="192176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FF"/>
                </a:solidFill>
              </a:rPr>
              <a:t>▸ BCrypt cost=10: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2608" y="192176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NIST SP 800-63B passwords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4800" y="2194560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600" y="223266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4DFF"/>
                </a:solidFill>
              </a:rPr>
              <a:t>▸ Refresh Token: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2608" y="223266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UUID в БД, ротация при /refresh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4800" y="2505456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5600" y="254355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E696"/>
                </a:solidFill>
              </a:rPr>
              <a:t>▸ iOS Keychain: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62608" y="254355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Secure Enclave, OWASP MASVS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4800" y="2816352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5600" y="285445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6B6B"/>
                </a:solidFill>
              </a:rPr>
              <a:t>▸ Stateless auth: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62608" y="285445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userId из request.getAttribute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4800" y="3127248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5600" y="316534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FF"/>
                </a:solidFill>
              </a:rPr>
              <a:t>▸ ML изолирован: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62608" y="316534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Только внутри Docker-сети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4800" y="3438144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5600" y="347624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4DFF"/>
                </a:solidFill>
              </a:rPr>
              <a:t>▸ BCrypt in AuthSvc: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62608" y="347624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auth_db изолирован от остальных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1188720"/>
            <a:ext cx="2834640" cy="2651760"/>
          </a:xfrm>
          <a:prstGeom prst="rect">
            <a:avLst/>
          </a:prstGeom>
          <a:solidFill>
            <a:srgbClr val="162B3F"/>
          </a:solidFill>
          <a:ln w="25400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6600" y="1252220"/>
            <a:ext cx="268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🌐 API Endpoints (40+)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76600" y="1572768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7400" y="1610868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FF"/>
                </a:solidFill>
              </a:rPr>
              <a:t>Auth (8081):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6392" y="1610868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register · login · refresh
onboarding · profile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76600" y="1883664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27400" y="1921764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4DFF"/>
                </a:solidFill>
              </a:rPr>
              <a:t>Checkins: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6392" y="1921764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POST /checkins → Kafka trigger
+ streak + XP auto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76600" y="2194560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7400" y="2232660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E696"/>
                </a:solidFill>
              </a:rPr>
              <a:t>Sleep/Mood: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06392" y="2232660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POST /sleep → Kafka sleep.logged
POST /mood daily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76600" y="2505456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27400" y="2543556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6B6B"/>
                </a:solidFill>
              </a:rPr>
              <a:t>Health ML: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06392" y="2543556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GET /health-metrics/today
GET /ml/recommendations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76600" y="2816352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27400" y="285445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FF"/>
                </a:solidFill>
              </a:rPr>
              <a:t>Games: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06392" y="2854452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/brain-games, /game-sessions
/new-game-sessions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76600" y="3127248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27400" y="3165348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6B6B"/>
                </a:solidFill>
              </a:rPr>
              <a:t>NoteAI (8083):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06392" y="3165348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POST /journal → AI analyze
PATCH auto-save debounce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76600" y="3438144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27400" y="3476244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0BEC5"/>
                </a:solidFill>
              </a:rPr>
              <a:t>Swagger UI: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06392" y="3476244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/swagger-ui.html каждый сервис
/apidocs (ML)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1188720"/>
            <a:ext cx="2834640" cy="2651760"/>
          </a:xfrm>
          <a:prstGeom prst="rect">
            <a:avLst/>
          </a:prstGeom>
          <a:solidFill>
            <a:srgbClr val="162B3F"/>
          </a:solidFill>
          <a:ln w="2540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48400" y="1252220"/>
            <a:ext cx="268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696"/>
                </a:solidFill>
              </a:rPr>
              <a:t>⚡ Kafka Async Flow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48400" y="1572768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99200" y="1572768"/>
            <a:ext cx="640080" cy="237744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99200" y="159816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&lt; 30 мс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90080" y="161086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POST /checkins → HTTP 201
(только запись в БД)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48400" y="1883664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99200" y="1883664"/>
            <a:ext cx="640080" cy="237744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99200" y="190906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async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90080" y="192176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Kafka: checkin.created
→ HealthMetricsSaver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48400" y="2194560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99200" y="2194560"/>
            <a:ext cx="640080" cy="237744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99200" y="221996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~200 мс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90080" y="223266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ML Service /predict
→ HealthMetrics в БД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48400" y="2505456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99200" y="2505456"/>
            <a:ext cx="640080" cy="23774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99200" y="253085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async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90080" y="254355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MLRecommendationConsumer
→ /recommend/top3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48400" y="2816352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99200" y="2816352"/>
            <a:ext cx="640080" cy="23774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99200" y="28417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fallback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90080" y="28544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Если ML недоступен:
формульный расчёт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48400" y="3127248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99200" y="3127248"/>
            <a:ext cx="640080" cy="237744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99200" y="31526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topics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90080" y="316534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checkin.created · sleep.logged
game.completed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48400" y="3438144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299200" y="3438144"/>
            <a:ext cx="640080" cy="237744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99200" y="346354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ordering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90080" y="347624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key=userId → 1 partition
→ гарантия порядка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144000" y="1188720"/>
            <a:ext cx="2834640" cy="2651760"/>
          </a:xfrm>
          <a:prstGeom prst="rect">
            <a:avLst/>
          </a:prstGeom>
          <a:solidFill>
            <a:srgbClr val="162B3F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220200" y="1252220"/>
            <a:ext cx="268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4DFF"/>
                </a:solidFill>
              </a:rPr>
              <a:t>🎮 Геймификация + Stack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220200" y="1572768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271000" y="161086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4DFF"/>
                </a:solidFill>
              </a:rPr>
              <a:t>XP formula: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57968" y="1610868"/>
            <a:ext cx="1783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N²×100 per level
(exp curve = retention)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220200" y="1883664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271000" y="192176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E696"/>
                </a:solidFill>
              </a:rPr>
              <a:t>5 Tasks/day: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57968" y="1921764"/>
            <a:ext cx="1783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AUTO: checkin·mood·sleep
game·journal → XP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220200" y="2194560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271000" y="223266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FF"/>
                </a:solidFill>
              </a:rPr>
              <a:t>Streaks: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157968" y="2232660"/>
            <a:ext cx="1783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7d→×1.1 XP, 30d→×1.25 XP
last_date compare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220200" y="2505456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271000" y="254355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6B6B"/>
                </a:solidFill>
              </a:rPr>
              <a:t>Adaptive: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57968" y="2543556"/>
            <a:ext cx="1783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Когнит.скор→сложность игр
Easy/Medium/Hard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220200" y="2816352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271000" y="285445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6B6B"/>
                </a:solidFill>
              </a:rPr>
              <a:t>Groq LLM: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157968" y="2854452"/>
            <a:ext cx="1783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llama-3.3-70b temp=0.3
Summarize·Analyze·Chat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220200" y="3127248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271000" y="316534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FF"/>
                </a:solidFill>
              </a:rPr>
              <a:t>Java 17 LTS: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57968" y="3165348"/>
            <a:ext cx="1783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G1 GC, sealed classes
Spring AI integration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220200" y="3438144"/>
            <a:ext cx="2682240" cy="256032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271000" y="347624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0BEC5"/>
                </a:solidFill>
              </a:rPr>
              <a:t>Monitoring: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157968" y="3476244"/>
            <a:ext cx="1783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Swagger UI + pgAdmin
:5050 + Docker logs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0" y="3977639"/>
            <a:ext cx="12188952" cy="2540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0" y="4028439"/>
            <a:ext cx="1523619" cy="914400"/>
          </a:xfrm>
          <a:prstGeom prst="rect">
            <a:avLst/>
          </a:prstGeom>
          <a:solidFill>
            <a:srgbClr val="16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0" y="4104639"/>
            <a:ext cx="15236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</a:rPr>
              <a:t>&lt; 30 мс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0" y="4412487"/>
            <a:ext cx="1523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B0BEC5"/>
                </a:solidFill>
              </a:rPr>
              <a:t>(sync path)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0" y="4650231"/>
            <a:ext cx="1523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API latency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523619" y="4028439"/>
            <a:ext cx="1523619" cy="914400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523619" y="4104639"/>
            <a:ext cx="15236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E696"/>
                </a:solidFill>
              </a:rPr>
              <a:t>~200 мс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523619" y="4412487"/>
            <a:ext cx="1523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B0BEC5"/>
                </a:solidFill>
              </a:rPr>
              <a:t>(Kafka consumer)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523619" y="4650231"/>
            <a:ext cx="1523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ML async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047238" y="4028439"/>
            <a:ext cx="1523619" cy="914400"/>
          </a:xfrm>
          <a:prstGeom prst="rect">
            <a:avLst/>
          </a:prstGeom>
          <a:solidFill>
            <a:srgbClr val="16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047238" y="4104639"/>
            <a:ext cx="15236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4DFF"/>
                </a:solidFill>
              </a:rPr>
              <a:t>2–5 мс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047238" y="4412487"/>
            <a:ext cx="1523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B0BEC5"/>
                </a:solidFill>
              </a:rPr>
              <a:t>(inference)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047238" y="4650231"/>
            <a:ext cx="1523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0857" y="4028439"/>
            <a:ext cx="1523619" cy="914400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570857" y="4104639"/>
            <a:ext cx="15236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6B"/>
                </a:solidFill>
              </a:rPr>
              <a:t>10–20 мс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70857" y="4412487"/>
            <a:ext cx="1523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B0BEC5"/>
                </a:solidFill>
              </a:rPr>
              <a:t>(inference)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70857" y="4650231"/>
            <a:ext cx="1523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CatBoost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094476" y="4028439"/>
            <a:ext cx="1523619" cy="914400"/>
          </a:xfrm>
          <a:prstGeom prst="rect">
            <a:avLst/>
          </a:prstGeom>
          <a:solidFill>
            <a:srgbClr val="16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094476" y="4104639"/>
            <a:ext cx="15236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6B"/>
                </a:solidFill>
              </a:rPr>
              <a:t>~100 мс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94476" y="4412487"/>
            <a:ext cx="1523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B0BEC5"/>
                </a:solidFill>
              </a:rPr>
              <a:t>(cost factor 10)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094476" y="4650231"/>
            <a:ext cx="1523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BCrypt hash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618095" y="4028439"/>
            <a:ext cx="1523619" cy="914400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618095" y="4104639"/>
            <a:ext cx="15236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</a:rPr>
              <a:t>86 400 с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618095" y="4412487"/>
            <a:ext cx="1523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B0BEC5"/>
                </a:solidFill>
              </a:rPr>
              <a:t>(24 часа)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18095" y="4650231"/>
            <a:ext cx="1523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JWT expiry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1714" y="4028439"/>
            <a:ext cx="1523619" cy="914400"/>
          </a:xfrm>
          <a:prstGeom prst="rect">
            <a:avLst/>
          </a:prstGeom>
          <a:solidFill>
            <a:srgbClr val="16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41714" y="4104639"/>
            <a:ext cx="15236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E696"/>
                </a:solidFill>
              </a:rPr>
              <a:t>max 10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141714" y="4412487"/>
            <a:ext cx="1523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B0BEC5"/>
                </a:solidFill>
              </a:rPr>
              <a:t>(HikariCP)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1714" y="4650231"/>
            <a:ext cx="1523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DB pool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665333" y="4028439"/>
            <a:ext cx="1523619" cy="914400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665333" y="4104639"/>
            <a:ext cx="15236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4DFF"/>
                </a:solidFill>
              </a:rPr>
              <a:t>10 total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665333" y="4412487"/>
            <a:ext cx="1523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B0BEC5"/>
                </a:solidFill>
              </a:rPr>
              <a:t>(Docker Compose)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665333" y="4650231"/>
            <a:ext cx="15236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Containers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28600" y="5010912"/>
            <a:ext cx="5669280" cy="1627632"/>
          </a:xfrm>
          <a:prstGeom prst="rect">
            <a:avLst/>
          </a:prstGeom>
          <a:solidFill>
            <a:srgbClr val="162B3F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04800" y="50744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🤖 NoteAI — Groq LLM Integration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17500" y="5376672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POST /journal → Spring AI (spring-ai-openai-starter v1.0.0-M6) → Groq Cloud API → llama-3.3-70b-versatile
temperature=0.3 (детерминированные ответы)  ·  Groq LPU hardware → latency &lt; 1 сек
PATCH auto-save с debounce 2-3 сек  ·  Endpoints: /ai/summary · /ai/analyze · /ai/chat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035040" y="5010912"/>
            <a:ext cx="5943600" cy="1627632"/>
          </a:xfrm>
          <a:prstGeom prst="rect">
            <a:avLst/>
          </a:prstGeom>
          <a:solidFill>
            <a:srgbClr val="162B3F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111240" y="5074412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96"/>
                </a:solidFill>
              </a:rPr>
              <a:t>🗄 Database-per-Service (Newman, 2015)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123940" y="5376672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auth_db :5432  →  BCrypt passwords, JWT refresh tokens, onboarding
checkin_db :5433  →  daily_check_ins · mood_logs · health_metrics · daily_ml_recommendation
noteai_db :5434  →  journal_entries · notes
Soft references по userId (no FK across DBs) · Flyway versioned migrations · HikariCP pool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